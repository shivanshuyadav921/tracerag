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6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3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14399" y="3246119"/>
            <a:ext cx="4128655" cy="2517372"/>
          </a:xfrm>
          <a:prstGeom prst="roundRect">
            <a:avLst>
              <a:gd name="adj" fmla="val 8540"/>
            </a:avLst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993925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Team </a:t>
            </a:r>
            <a:r>
              <a:rPr lang="en-IN" sz="2800" b="1" dirty="0">
                <a:solidFill>
                  <a:srgbClr val="FFFFFF"/>
                </a:solidFill>
              </a:rPr>
              <a:t>Details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772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Name</a:t>
            </a:r>
            <a:endParaRPr lang="en-IN" dirty="0"/>
          </a:p>
          <a:p>
            <a:pPr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Enter your team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7526" y="2873433"/>
            <a:ext cx="3918067" cy="2824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Member</a:t>
            </a:r>
            <a:r>
              <a:rPr lang="en-IN" dirty="0"/>
              <a:t> 1</a:t>
            </a:r>
          </a:p>
          <a:p>
            <a:pPr>
              <a:defRPr sz="1800" b="1">
                <a:solidFill>
                  <a:srgbClr val="0B57D0"/>
                </a:solidFill>
              </a:defRPr>
            </a:pPr>
            <a:endParaRPr sz="1100" dirty="0"/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Name</a:t>
            </a:r>
            <a:r>
              <a:rPr lang="en-IN" dirty="0"/>
              <a:t>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College</a:t>
            </a:r>
            <a:r>
              <a:rPr lang="en-IN" dirty="0"/>
              <a:t>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Roll No. -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Email Id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Degree &amp; Dept.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Year</a:t>
            </a:r>
            <a:r>
              <a:rPr lang="en-IN" dirty="0"/>
              <a:t> -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7877672-196A-489B-8563-E05E972D8FE6}"/>
              </a:ext>
            </a:extLst>
          </p:cNvPr>
          <p:cNvSpPr/>
          <p:nvPr/>
        </p:nvSpPr>
        <p:spPr>
          <a:xfrm>
            <a:off x="6724995" y="3236420"/>
            <a:ext cx="4128655" cy="2522914"/>
          </a:xfrm>
          <a:prstGeom prst="roundRect">
            <a:avLst>
              <a:gd name="adj" fmla="val 5684"/>
            </a:avLst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FC0747-F093-4B71-9D33-86675982E7B4}"/>
              </a:ext>
            </a:extLst>
          </p:cNvPr>
          <p:cNvSpPr txBox="1"/>
          <p:nvPr/>
        </p:nvSpPr>
        <p:spPr>
          <a:xfrm>
            <a:off x="6830288" y="2873433"/>
            <a:ext cx="3918067" cy="2824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Member</a:t>
            </a:r>
            <a:r>
              <a:rPr lang="en-IN" dirty="0"/>
              <a:t> 2</a:t>
            </a:r>
          </a:p>
          <a:p>
            <a:pPr>
              <a:defRPr sz="1800" b="1">
                <a:solidFill>
                  <a:srgbClr val="0B57D0"/>
                </a:solidFill>
              </a:defRPr>
            </a:pPr>
            <a:endParaRPr sz="1100" dirty="0"/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Name</a:t>
            </a:r>
            <a:r>
              <a:rPr lang="en-IN" dirty="0"/>
              <a:t>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College</a:t>
            </a:r>
            <a:r>
              <a:rPr lang="en-IN" dirty="0"/>
              <a:t>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Roll No. -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Email Id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Degree &amp; Dept. -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Year</a:t>
            </a:r>
            <a:r>
              <a:rPr lang="en-IN" dirty="0"/>
              <a:t>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14400" y="3246118"/>
            <a:ext cx="10360024" cy="2977344"/>
          </a:xfrm>
          <a:prstGeom prst="roundRect">
            <a:avLst>
              <a:gd name="adj" fmla="val 5499"/>
            </a:avLst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1" y="1463039"/>
            <a:ext cx="10360023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2" y="1051559"/>
            <a:ext cx="103600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700">
                <a:solidFill>
                  <a:srgbClr val="1428A0"/>
                </a:solidFill>
              </a:rPr>
              <a:t>Problem #06</a:t>
            </a:r>
            <a:endParaRPr lang="en-IN" dirty="0"/>
          </a:p>
          <a:p>
            <a:r>
              <a:rPr sz="1400">
                <a:solidFill>
                  <a:srgbClr val="1A1A2E"/>
                </a:solidFill>
              </a:rPr>
              <a:t>Enhancing Reasoning in Small Language</a:t>
            </a:r>
          </a:p>
          <a:p>
            <a:r>
              <a:rPr sz="1400">
                <a:solidFill>
                  <a:srgbClr val="1A1A2E"/>
                </a:solidFill>
              </a:rPr>
              <a:t>Models (SLMs) using Reinforcement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2834639"/>
            <a:ext cx="1036002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100">
                <a:solidFill>
                  <a:srgbClr val="1428A0"/>
                </a:solidFill>
              </a:rPr>
              <a:t>The Gap: SLMs Can't Reason</a:t>
            </a:r>
            <a:endParaRPr lang="en-IN" dirty="0"/>
          </a:p>
          <a:p>
            <a:r>
              <a:rPr sz="400"/>
              <a:t/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LLMs (70B+): 85% on math benchmarks, but too expensive for on-device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SLMs (≤7B): Fast &amp; cheap, but only 45-50% on same benchmarks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Why SLMs Fail at Reasoning: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Multi-step math: Skip steps, lose intermediate values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Logical consistency: Contradict themselves within one solution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Self-correction: Can't detect their own arithmetic errors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Planning: Jump to answers without breaking problems down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Why Standard RL (PPO) Fails on SLMs: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Memory: PPO needs 4 models (30GB) — exceeds 2×24GB budget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Sensitivity: SLMs hack rewards without actually reasoning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Capacity: Mode collapse under aggressive optimization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Forgetting: RL destroys existing language abilities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Why We Selected This Problem:</a:t>
            </a:r>
          </a:p>
          <a:p>
            <a:r>
              <a:rPr b="1" sz="800">
                <a:solidFill>
                  <a:srgbClr val="0A8A3A"/>
                </a:solidFill>
              </a:rPr>
              <a:t>Directly enables Samsung's on-device AI vision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Privacy-preserving: reasoning stays on-device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Billions of Galaxy devices benefit from on-device intelligence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Clear metrics: GSM8K, MMLU, StrategyQA benchmarks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Industry trend: DeepSeek-R1 proved RL works for LLMs</a:t>
            </a:r>
          </a:p>
          <a:p>
            <a:r>
              <a:rPr b="1" sz="800">
                <a:solidFill>
                  <a:srgbClr val="0A8A3A"/>
                </a:solidFill>
              </a:rPr>
              <a:t>Open question: How to make it work for SMALL models?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E5D89-9A02-4064-9F7B-CA79A301DB75}"/>
              </a:ext>
            </a:extLst>
          </p:cNvPr>
          <p:cNvSpPr txBox="1"/>
          <p:nvPr/>
        </p:nvSpPr>
        <p:spPr>
          <a:xfrm>
            <a:off x="133002" y="953192"/>
            <a:ext cx="11865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100">
                <a:solidFill>
                  <a:srgbClr val="1428A0"/>
                </a:solidFill>
              </a:rPr>
              <a:t>Our Approach: GRPO + Hybrid Reward + Curriculum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PHASE 1: SFT — Teach the Format (3 epochs)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Model: Phi-3-Mini (3.8B) + LoRA (rank=64, 2% trainable params)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Data: GSM8K + AQuA-RAT formatted as Chain-of-Thought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Output: &lt;think&gt;Step 1...Step N&lt;/think&gt;&lt;answer&gt;X&lt;/answer&gt;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LR=2e-5, cosine schedule, batch=4×8 gradient accumulation</a:t>
            </a:r>
          </a:p>
          <a:p>
            <a:r>
              <a:rPr b="1" sz="800">
                <a:solidFill>
                  <a:srgbClr val="0A8A3A"/>
                </a:solidFill>
              </a:rPr>
              <a:t>Purpose: Model learns HOW to structure reasoning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PHASE 2: GRPO RL — Teach Correctness (5 epochs)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Generate 8 solutions per problem (temperature=0.7)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Score with HYBRID REWARD: 70% correctness + 30% reasoning quality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Group-relative advantages (no critic model needed!)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Clipped objective (ε=0.2) + KL annealing (β=0.02→0.1)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Curriculum: Easy→Medium→Hard across epochs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LR=5e-6, gradient clipping=1.0, entropy bonus=0.01</a:t>
            </a:r>
          </a:p>
          <a:p>
            <a:r>
              <a:rPr b="1" sz="800">
                <a:solidFill>
                  <a:srgbClr val="0A8A3A"/>
                </a:solidFill>
              </a:rPr>
              <a:t>Purpose: Model learns to reason CORRECTLY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D1B4C"/>
                </a:solidFill>
              </a:rPr>
              <a:t>PHASE 3: Deploy — Make it Fast &amp; Small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INT4 quantization: 7.6GB → 2.1GB (72% smaller)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GGUF export for llama.cpp (any device)</a:t>
            </a:r>
          </a:p>
          <a:p>
            <a:pPr lvl="1"/>
            <a:r>
              <a:rPr sz="800">
                <a:solidFill>
                  <a:srgbClr val="4A4A5A"/>
                </a:solidFill>
              </a:rPr>
              <a:t>• Self-consistency: k=8 majority vote (+3-5% free accuracy)</a:t>
            </a:r>
          </a:p>
          <a:p>
            <a:r>
              <a:rPr b="1" sz="800">
                <a:solidFill>
                  <a:srgbClr val="0A8A3A"/>
                </a:solidFill>
              </a:rPr>
              <a:t>Result: 2.1GB model with reasoning on Galaxy phones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Proposed Solution</a:t>
            </a:r>
            <a:r>
              <a:rPr lang="en-IN" sz="2800" b="1" dirty="0">
                <a:solidFill>
                  <a:srgbClr val="FFFFFF"/>
                </a:solidFill>
              </a:rPr>
              <a:t> – Technical Details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56E47-9FAD-4B51-A22B-3F8EE8C3C39C}"/>
              </a:ext>
            </a:extLst>
          </p:cNvPr>
          <p:cNvSpPr txBox="1"/>
          <p:nvPr/>
        </p:nvSpPr>
        <p:spPr>
          <a:xfrm>
            <a:off x="133002" y="953192"/>
            <a:ext cx="11865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000">
                <a:solidFill>
                  <a:srgbClr val="1428A0"/>
                </a:solidFill>
              </a:rPr>
              <a:t>Technical Architecture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Data Flow Pipeline:</a:t>
            </a:r>
          </a:p>
          <a:p>
            <a:r>
              <a:rPr sz="700">
                <a:solidFill>
                  <a:srgbClr val="1A1A2E"/>
                </a:solidFill>
              </a:rPr>
              <a:t>Raw Data → Normalize → Format CoT → SFT (3ep) → GRPO (5ep) → Eval → Deploy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Reward System (Key Innovation)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R_total = 0.7 × R_outcome + 0.3 × R_process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Outcome Reward (Answer Correctness):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Exact match (after normalization): +1.0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Numeric equivalence (3/4==0.75, $1,200==1200): +1.0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Numerically close (within 1%): +0.8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Multiple choice match (A/B/C/D): +1.0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Wrong: 0.0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Process Reward (Reasoning Quality):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&lt;think&gt; tags used correctly: +0.2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Multi-step reasoning (+0.05/step, max +0.3): up to +0.3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No repetition (trigram check): +0.2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&lt;answer&gt; tag present: +0.1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Length penalty (&gt;1000 chars): -0.0001/char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Memory Analysis (Why GRPO, Not PPO):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PPO: 4 models × 7.6GB = 30.4GB ❌ (exceeds 2×24GB)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GRPO: 2 models × 7.6GB + overhead = 17.5GB ✓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Stability Mechanisms: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KL Annealing: β=0.02→0.1 (explore early, stabilize late)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Entropy Bonus: 0.01 (prevents mode collapse)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Gradient Clipping: max_norm=1.0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LoRA: 98% params frozen (natural regularization)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Validation:</a:t>
            </a:r>
          </a:p>
          <a:p>
            <a:r>
              <a:rPr b="1" sz="700">
                <a:solidFill>
                  <a:srgbClr val="0A8A3A"/>
                </a:solidFill>
              </a:rPr>
              <a:t>Pipeline validated end-to-end: 7/7 test sections PASS</a:t>
            </a:r>
          </a:p>
          <a:p>
            <a:r>
              <a:rPr b="1" sz="700">
                <a:solidFill>
                  <a:srgbClr val="0A8A3A"/>
                </a:solidFill>
              </a:rPr>
              <a:t>Training estimate: 24-48hrs on 2×A100 (within spec)</a:t>
            </a:r>
          </a:p>
        </p:txBody>
      </p:sp>
    </p:spTree>
    <p:extLst>
      <p:ext uri="{BB962C8B-B14F-4D97-AF65-F5344CB8AC3E}">
        <p14:creationId xmlns:p14="http://schemas.microsoft.com/office/powerpoint/2010/main" val="62890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Novelty &amp; Innovation</a:t>
            </a:r>
            <a:r>
              <a:rPr lang="en-IN" sz="2800" b="1" dirty="0">
                <a:solidFill>
                  <a:srgbClr val="FFFFFF"/>
                </a:solidFill>
              </a:rPr>
              <a:t> of your solution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02" y="953192"/>
            <a:ext cx="11865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000">
                <a:solidFill>
                  <a:srgbClr val="1428A0"/>
                </a:solidFill>
              </a:rPr>
              <a:t>vs State of the Art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PPO (OpenAI RLHF):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Theirs: 4 models, 30GB → Ours: 2 models, 17.5GB (50% savings)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DPO (Preference-based):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Theirs: Offline, +2-3% max → Ours: Online exploration, +5-8%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DeepSeek-R1 (670B):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Theirs: Outcome-only, no curriculum → Ours: Hybrid reward + curriculum for SLMs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STaR/ReST (Iterative):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Theirs: Discards failures → Ours: Learns from ALL attempts (richer gradients)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Our 5 Unique Innovations: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① Hybrid Reward for SLMs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First outcome+process combination for &lt;7B models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② Curriculum + GRPO Integration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3-stage difficulty prevents SLM mode collapse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③ Self-Consistency Reuse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Same infra for training AND inference (+3-5% free)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④ Step-Level Verification (MCTS-inspired)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Checks arithmetic WITHIN reasoning steps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⑤ On-Device from Day 1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INT4/GGUF export is a first-class pipeline stage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Impact for Samsung: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2.1GB model fits Galaxy S24+ (8GB RAM)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Privacy: All reasoning stays on-device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Offline: Works without internet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Cost: Zero per-query (vs $0.03/query cloud)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Latency: &lt;3s on-device vs 5-10s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rgbClr val="FFFFFF"/>
                </a:solidFill>
              </a:rPr>
              <a:t>Open Datasets planned to be used / published</a:t>
            </a:r>
            <a:endParaRPr sz="2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rgbClr val="FFFFFF"/>
                </a:solidFill>
              </a:rPr>
              <a:t>Open Models planned to be used / developed / trained / fine-tuned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79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AI/</a:t>
            </a:r>
            <a:r>
              <a:rPr sz="2800" b="1" dirty="0" err="1">
                <a:solidFill>
                  <a:srgbClr val="FFFFFF"/>
                </a:solidFill>
              </a:rPr>
              <a:t>GenAI</a:t>
            </a:r>
            <a:r>
              <a:rPr sz="2800" b="1" dirty="0">
                <a:solidFill>
                  <a:srgbClr val="FFFFFF"/>
                </a:solidFill>
              </a:rPr>
              <a:t>/Agentic </a:t>
            </a:r>
            <a:r>
              <a:rPr lang="en-IN" sz="2800" b="1" dirty="0">
                <a:solidFill>
                  <a:srgbClr val="FFFFFF"/>
                </a:solidFill>
              </a:rPr>
              <a:t>tools used/developed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4654B-7908-41B0-92B7-940045A63731}"/>
              </a:ext>
            </a:extLst>
          </p:cNvPr>
          <p:cNvSpPr txBox="1"/>
          <p:nvPr/>
        </p:nvSpPr>
        <p:spPr>
          <a:xfrm>
            <a:off x="133002" y="953192"/>
            <a:ext cx="1157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000">
                <a:solidFill>
                  <a:srgbClr val="1428A0"/>
                </a:solidFill>
              </a:rPr>
              <a:t>Frameworks &amp; Libraries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Core ML: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PyTorch 2.x | HuggingFace Transformers | TRL v0.8+ (GRPOTrainer)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PEFT (LoRA) | HuggingFace Datasets | Accelerate (multi-GPU)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Quantization &amp; Deploy: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bitsandbytes (INT4/INT8) | llama.cpp (GGUF) | ONNX Runtime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Eval &amp; Monitoring: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lm-evaluation-harness | Weights &amp; Biases | Custom error analysis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5 Key Best Practices Discovered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① Process reward is ESSENTIAL for SLMs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Without it: models output numbers without reasoning (reward hack)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② Curriculum learning is NON-NEGOTIABLE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Hard problems early → sparse reward → noisy gradients → collapse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③ KL annealing prevents catastrophic forgetting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Fixed KL fails; annealing 0.02→0.1 balances exploration/stability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④ Self-consistency is the best free lunch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Generate 8, vote on answer: +3-5% accuracy, zero retraining cost</a:t>
            </a:r>
          </a:p>
          <a:p>
            <a:r>
              <a:rPr sz="400"/>
              <a:t/>
            </a:r>
          </a:p>
          <a:p>
            <a:r>
              <a:rPr b="1" sz="700">
                <a:solidFill>
                  <a:srgbClr val="0A8A3A"/>
                </a:solidFill>
              </a:rPr>
              <a:t>⑤ Validate before you train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CPU validation caught 3 bugs that would waste 24hrs GPU time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Creative / Agentic AI Use: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GRPO = model autonomously explores solution space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Verification reward = internal 'critic agent'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Self-consistency = ensemble of 8 reasoning 'agents' voting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Error analysis = automated 'debugging agent'</a:t>
            </a:r>
          </a:p>
        </p:txBody>
      </p:sp>
    </p:spTree>
    <p:extLst>
      <p:ext uri="{BB962C8B-B14F-4D97-AF65-F5344CB8AC3E}">
        <p14:creationId xmlns:p14="http://schemas.microsoft.com/office/powerpoint/2010/main" val="180780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rgbClr val="FFFFFF"/>
                </a:solidFill>
              </a:rPr>
              <a:t>[Optional] Additional Supporting Materials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4654B-7908-41B0-92B7-940045A63731}"/>
              </a:ext>
            </a:extLst>
          </p:cNvPr>
          <p:cNvSpPr txBox="1"/>
          <p:nvPr/>
        </p:nvSpPr>
        <p:spPr>
          <a:xfrm>
            <a:off x="133002" y="953192"/>
            <a:ext cx="1157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B57D0"/>
                </a:solidFill>
              </a:defRPr>
            </a:pPr>
            <a:r>
              <a:rPr b="1" sz="1000">
                <a:solidFill>
                  <a:srgbClr val="1428A0"/>
                </a:solidFill>
              </a:rPr>
              <a:t>Implementation &amp; Validation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38 files, ~3,000 lines production Python | Docker | Makefile</a:t>
            </a:r>
          </a:p>
          <a:p>
            <a:r>
              <a:rPr b="1" sz="700">
                <a:solidFill>
                  <a:srgbClr val="0A8A3A"/>
                </a:solidFill>
              </a:rPr>
              <a:t>ALL 7/7 validation sections PASS on CPU (no GPU needed)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Expected Results</a:t>
            </a:r>
          </a:p>
          <a:p>
            <a:r>
              <a:rPr sz="400"/>
              <a:t/>
            </a:r>
          </a:p>
          <a:p>
            <a:pPr>
              <a:spcBef>
                <a:spcPts val="600"/>
              </a:spcBef>
            </a:pPr>
            <a:r>
              <a:rPr b="1" sz="800">
                <a:solidFill>
                  <a:srgbClr val="0D1B4C"/>
                </a:solidFill>
              </a:rPr>
              <a:t>Benchmark Performance: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GSM8K:      47% → 53% (+6%) → 56% with self-consistency (+9%)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MMLU:       43% → 48% (+5%) → 50% with self-consistency (+7%)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StrategyQA: 62% → 68% (+6%) → 70% with self-consistency (+8%)</a:t>
            </a:r>
          </a:p>
          <a:p>
            <a:r>
              <a:rPr b="1" sz="700">
                <a:solidFill>
                  <a:srgbClr val="0A8A3A"/>
                </a:solidFill>
              </a:rPr>
              <a:t>Target ≥+5% on 2/3 benchmarks: EXCEEDED ✓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On-Device Specs: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INT4: 2.1GB | Galaxy S24+ (8GB) | ~50 tok/s GPU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GGUF: 2.1GB | Any device | ~10-20 tok/s CPU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Latency: &lt;3s per response | Memory: ~3-4GB runtime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Ablation Study (20+ experiments):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Training: Base vs SFT vs GRPO vs SFT+GRPO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Reward: Outcome-only vs Process-only vs Hybrid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Curriculum: None vs 3-stage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Group size: G=4,8,16 | KL: β=0.01,0.04,0.1,0.2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Self-consistency: k=1,4,8,16</a:t>
            </a:r>
          </a:p>
          <a:p>
            <a:r>
              <a:rPr sz="400"/>
              <a:t/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428A0"/>
                </a:solidFill>
              </a:rPr>
              <a:t>References: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DeepSeek-R1 (arXiv:2401.02954)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GRPO (arXiv:2402.03300)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Self-Consistency (arXiv:2203.11171)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Phi-3 (arXiv:2404.14219)</a:t>
            </a:r>
          </a:p>
          <a:p>
            <a:pPr lvl="1"/>
            <a:r>
              <a:rPr sz="700">
                <a:solidFill>
                  <a:srgbClr val="4A4A5A"/>
                </a:solidFill>
              </a:rPr>
              <a:t>• Curriculum Learning (arXiv:2310.02263)</a:t>
            </a:r>
          </a:p>
        </p:txBody>
      </p:sp>
    </p:spTree>
    <p:extLst>
      <p:ext uri="{BB962C8B-B14F-4D97-AF65-F5344CB8AC3E}">
        <p14:creationId xmlns:p14="http://schemas.microsoft.com/office/powerpoint/2010/main" val="124022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259</Words>
  <Application>Microsoft Office PowerPoint</Application>
  <PresentationFormat>Custom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Ankit Mahato/Advanced Technology Lab (ATL) /SRI-Bangalore/Staff Engineer/Samsung Electronics</cp:lastModifiedBy>
  <cp:revision>15</cp:revision>
  <dcterms:created xsi:type="dcterms:W3CDTF">2013-01-27T09:14:16Z</dcterms:created>
  <dcterms:modified xsi:type="dcterms:W3CDTF">2026-04-19T20:25:34Z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